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2bdcfacc754f54" /><Relationship Type="http://schemas.openxmlformats.org/officeDocument/2006/relationships/extended-properties" Target="/docProps/app.xml" Id="R05411f608edf4102" /><Relationship Type="http://schemas.openxmlformats.org/officeDocument/2006/relationships/officeDocument" Target="/ppt/presentation.xml" Id="R73b1b03e8b1f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37e7cb46b5420c"/>
  </p:sldMasterIdLst>
  <p:notesMasterIdLst>
    <p:notesMasterId xmlns:r="http://schemas.openxmlformats.org/officeDocument/2006/relationships" r:id="R176c6fa5565d49f9"/>
  </p:notesMasterIdLst>
  <p:sldIdLst>
    <p:sldId xmlns:r="http://schemas.openxmlformats.org/officeDocument/2006/relationships" id="256" r:id="Rc14c617ed2eb44b2"/>
    <p:sldId xmlns:r="http://schemas.openxmlformats.org/officeDocument/2006/relationships" id="257" r:id="R9519d8c774864d3a"/>
    <p:sldId xmlns:r="http://schemas.openxmlformats.org/officeDocument/2006/relationships" id="258" r:id="R671352a972314bbf"/>
    <p:sldId xmlns:r="http://schemas.openxmlformats.org/officeDocument/2006/relationships" id="259" r:id="Rc87174d7355646cb"/>
    <p:sldId xmlns:r="http://schemas.openxmlformats.org/officeDocument/2006/relationships" id="260" r:id="Rc1a608b70c9b4f6c"/>
    <p:sldId xmlns:r="http://schemas.openxmlformats.org/officeDocument/2006/relationships" id="261" r:id="R33abef5223b74790"/>
    <p:sldId xmlns:r="http://schemas.openxmlformats.org/officeDocument/2006/relationships" id="262" r:id="Rc1d89ce27329432f"/>
    <p:sldId xmlns:r="http://schemas.openxmlformats.org/officeDocument/2006/relationships" id="263" r:id="R14312cbdee354621"/>
    <p:sldId xmlns:r="http://schemas.openxmlformats.org/officeDocument/2006/relationships" id="264" r:id="R7d9f4dbc44834efe"/>
    <p:sldId xmlns:r="http://schemas.openxmlformats.org/officeDocument/2006/relationships" id="265" r:id="Rb072e1c64c1f42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7e7cb46b5420c" /><Relationship Type="http://schemas.openxmlformats.org/officeDocument/2006/relationships/theme" Target="/ppt/theme/theme1.xml" Id="R950925ce03064fac" /><Relationship Type="http://schemas.openxmlformats.org/officeDocument/2006/relationships/notesMaster" Target="/ppt/notesMasters/notesMaster1.xml" Id="R176c6fa5565d49f9" /><Relationship Type="http://schemas.openxmlformats.org/officeDocument/2006/relationships/presProps" Target="/ppt/presProps.xml" Id="R4db925ce5c7b4784" /><Relationship Type="http://schemas.openxmlformats.org/officeDocument/2006/relationships/viewProps" Target="/ppt/viewProps.xml" Id="R038be9ba7f1946f3" /><Relationship Type="http://schemas.openxmlformats.org/officeDocument/2006/relationships/tableStyles" Target="/ppt/tableStyles.xml" Id="Ra29cad495e364bbf" /><Relationship Type="http://schemas.openxmlformats.org/officeDocument/2006/relationships/slide" Target="/ppt/slides/slide1.xml" Id="Rc14c617ed2eb44b2" /><Relationship Type="http://schemas.openxmlformats.org/officeDocument/2006/relationships/slide" Target="/ppt/slides/slide2.xml" Id="R9519d8c774864d3a" /><Relationship Type="http://schemas.openxmlformats.org/officeDocument/2006/relationships/slide" Target="/ppt/slides/slide3.xml" Id="R671352a972314bbf" /><Relationship Type="http://schemas.openxmlformats.org/officeDocument/2006/relationships/slide" Target="/ppt/slides/slide4.xml" Id="Rc87174d7355646cb" /><Relationship Type="http://schemas.openxmlformats.org/officeDocument/2006/relationships/slide" Target="/ppt/slides/slide5.xml" Id="Rc1a608b70c9b4f6c" /><Relationship Type="http://schemas.openxmlformats.org/officeDocument/2006/relationships/slide" Target="/ppt/slides/slide6.xml" Id="R33abef5223b74790" /><Relationship Type="http://schemas.openxmlformats.org/officeDocument/2006/relationships/slide" Target="/ppt/slides/slide7.xml" Id="Rc1d89ce27329432f" /><Relationship Type="http://schemas.openxmlformats.org/officeDocument/2006/relationships/slide" Target="/ppt/slides/slide8.xml" Id="R14312cbdee354621" /><Relationship Type="http://schemas.openxmlformats.org/officeDocument/2006/relationships/slide" Target="/ppt/slides/slide9.xml" Id="R7d9f4dbc44834efe" /><Relationship Type="http://schemas.openxmlformats.org/officeDocument/2006/relationships/slide" Target="/ppt/slides/slide10.xml" Id="Rb072e1c64c1f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b9b1586699d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420ccd0384249" /><Relationship Type="http://schemas.openxmlformats.org/officeDocument/2006/relationships/notesMaster" Target="/ppt/notesMasters/notesMaster1.xml" Id="R2c4bc29d89a5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d40fddc6f4409a" /><Relationship Type="http://schemas.openxmlformats.org/officeDocument/2006/relationships/notesMaster" Target="/ppt/notesMasters/notesMaster1.xml" Id="Ra08443da220a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040f577684a34" /><Relationship Type="http://schemas.openxmlformats.org/officeDocument/2006/relationships/notesMaster" Target="/ppt/notesMasters/notesMaster1.xml" Id="R64abf29f9e02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faae81ea75422b" /><Relationship Type="http://schemas.openxmlformats.org/officeDocument/2006/relationships/notesMaster" Target="/ppt/notesMasters/notesMaster1.xml" Id="R1fe1071572f0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f69cdc8b644f0e" /><Relationship Type="http://schemas.openxmlformats.org/officeDocument/2006/relationships/notesMaster" Target="/ppt/notesMasters/notesMaster1.xml" Id="Rf7d513528572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b98968d3b4ca2" /><Relationship Type="http://schemas.openxmlformats.org/officeDocument/2006/relationships/notesMaster" Target="/ppt/notesMasters/notesMaster1.xml" Id="R0bde901ca82540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33758d4d64149" /><Relationship Type="http://schemas.openxmlformats.org/officeDocument/2006/relationships/notesMaster" Target="/ppt/notesMasters/notesMaster1.xml" Id="Ra030cb99c0e0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cbb79949734c7f" /><Relationship Type="http://schemas.openxmlformats.org/officeDocument/2006/relationships/notesMaster" Target="/ppt/notesMasters/notesMaster1.xml" Id="R91e27cba260f40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6bb56719b49ab" /><Relationship Type="http://schemas.openxmlformats.org/officeDocument/2006/relationships/notesMaster" Target="/ppt/notesMasters/notesMaster1.xml" Id="R87669eb166c041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6c9b047684fad" /><Relationship Type="http://schemas.openxmlformats.org/officeDocument/2006/relationships/notesMaster" Target="/ppt/notesMasters/notesMaster1.xml" Id="R2ba8979a3eab4e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2dcf555914a0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e4df6c6b0904723" /><Relationship Type="http://schemas.openxmlformats.org/officeDocument/2006/relationships/slideLayout" Target="/ppt/slideLayouts/slideLayout2.xml" Id="R096d77444484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d77444484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8d64eca5fa4c02" /><Relationship Type="http://schemas.openxmlformats.org/officeDocument/2006/relationships/notesSlide" Target="/ppt/notesSlides/notesSlide1.xml" Id="R0b1c30e2c15f46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ecebb03a94414" /><Relationship Type="http://schemas.openxmlformats.org/officeDocument/2006/relationships/notesSlide" Target="/ppt/notesSlides/notesSlide2.xml" Id="R3fca6a934a73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c6a83e18b47f8" /><Relationship Type="http://schemas.openxmlformats.org/officeDocument/2006/relationships/notesSlide" Target="/ppt/notesSlides/notesSlide3.xml" Id="Rbbaffbd4cab6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f6295820074a7c" /><Relationship Type="http://schemas.openxmlformats.org/officeDocument/2006/relationships/notesSlide" Target="/ppt/notesSlides/notesSlide4.xml" Id="R59f7a0d329e2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e4ff6aee94d3e" /><Relationship Type="http://schemas.openxmlformats.org/officeDocument/2006/relationships/notesSlide" Target="/ppt/notesSlides/notesSlide5.xml" Id="R58ca780f8e644b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262148d094fc4" /><Relationship Type="http://schemas.openxmlformats.org/officeDocument/2006/relationships/notesSlide" Target="/ppt/notesSlides/notesSlide6.xml" Id="R5f16b866b59848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03a02dfc64f82" /><Relationship Type="http://schemas.openxmlformats.org/officeDocument/2006/relationships/notesSlide" Target="/ppt/notesSlides/notesSlide7.xml" Id="R2f667390f00147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7865fb8414839" /><Relationship Type="http://schemas.openxmlformats.org/officeDocument/2006/relationships/notesSlide" Target="/ppt/notesSlides/notesSlide8.xml" Id="R3fa7794fe4ca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92284f2ede489c" /><Relationship Type="http://schemas.openxmlformats.org/officeDocument/2006/relationships/notesSlide" Target="/ppt/notesSlides/notesSlide9.xml" Id="R256dc7d58493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8c5025ed7349f6" /><Relationship Type="http://schemas.openxmlformats.org/officeDocument/2006/relationships/notesSlide" Target="/ppt/notesSlides/notesSlide10.xml" Id="R0e179f000ef34c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6323D-8CD0-403E-81DB-242DEEF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SETU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7E407-3D5D-45DC-A633-2097D26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57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One finance operations system for onboarding, invoicing, payment review, and receipts.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A6D36-25FB-4A62-9DEC-7210649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474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F4741"/>
                </a:solidFill>
                <a:latin typeface="Aptos"/>
                <a:ea typeface="Aptos"/>
                <a:cs typeface="Aptos"/>
              </a:rPr>
              <a:t>Setu Finance turns a fragmented workflow into one controlled operating path with queue-based review, structured Zelle capture, customer-level visibility, and receipt delivery from a single portal.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D8EFB-69F3-4711-810C-C7CBC91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B9F2-EC6A-4547-9720-3926C63F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Postgres-backed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B7A5A-AB91-4C1F-A114-9C77A85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86150"/>
            <a:ext cx="155829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63BBB-2357-4B01-9609-B2CB721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52825"/>
            <a:ext cx="13296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Gmail sync enabled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E7C51-3871-4BC4-8A6C-3E25EE8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148971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C7ADE-19D9-4910-BE6E-DFD94ADC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12611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PDF receipts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0052-1BEF-4607-BD5F-33329E5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86150"/>
            <a:ext cx="196977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1C860-6B58-4BE8-83F3-6B65B3A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17411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Business-ready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E16B5-4C7C-4EF7-ACC0-2ED9BB80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19150"/>
            <a:ext cx="3752850" cy="495300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D90A3-745D-4FEB-93DF-4FE3009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6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CURRENT PRODUCT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46DDF-789B-4213-B2D1-B82F127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485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2869A-6F5C-4214-A1E4-F62ED98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360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431E5-5EFF-47B9-857A-1ADBA03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Customer view with signup date, invoices, payments, referrals, and billing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44B5B-F92F-4AA4-B97D-5C25EF18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24000"/>
            <a:ext cx="1485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BBE63-AA45-43B8-BCA8-D6E520C4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1 click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C424A-C9F7-4C16-899B-BBF10D1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145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Human apply action after the portal prepares a reviewable transaction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12AC7-7100-457D-BD21-525BAFC9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485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582E0-0E45-45F5-9A7C-D772DF15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B60DA-5DE8-4EE3-B7F5-9EDC11ED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Receipts can be sent or re-sent from completed transactions without changing the ledger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B5225-29AA-4DD5-98D0-2D3A7472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1485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C2EF7-03A4-4600-BBDE-5A03B98A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95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AWS-ready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BD62C-B429-407D-8483-AC10228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957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Low-cost path mapped for S3, App Runner, RDS, SQS, Lambda, and 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557A9-8F7C-461B-9300-A1C0D631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Setu Finance business 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14130-C9EA-4DB7-AB34-64A9E39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Finance operations foundation, not just an invoice screen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3AC38-A772-4107-A44D-077D8FEB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4726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CC256-3EA9-4254-93BD-73A98CC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2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5291C-5D40-43CC-948C-B1C4DA83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B4C24-D99E-4365-9534-68962BE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Finance teams are stitching together customer data, invoices, inbox threads, and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45CD5-DB66-4640-B20F-2BC4DE9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7EACC-2229-4748-A472-36D5FBA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2A60D-5D15-4121-AAD7-F29064D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Onboarding is disconnected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3FE91-B1F7-44C1-BBA9-D54BAAE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Customer details, services, and billing intent are often not captured once in a durable 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462A2-0500-47D7-A413-64E255F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A0FE1-C4F2-49A4-A45B-1FD1278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C3EA-C32A-47C5-869F-204B4F17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Payment evidence lives in 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CE7D2-E073-4DF0-A397-44B74AF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Zelle confirmations arrive in inboxes, not in a structured operations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7DD9F-8D85-4C43-8303-6F6901F7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333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7A8E3-A18B-459E-9EF4-F1690074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8F875-8EAC-4743-A8C6-46920E7E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Receipts and follow-up are manual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3F3BF-BCD4-4CA5-9055-83AD8708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Finance teams re-open threads, re-check amounts, and risk inconsistent customer communication.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7C39B-C877-4305-988C-218EF26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534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024F-24D6-4637-9A64-09D1A544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F4FC9-F856-4BC9-A1C5-EC640A87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15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3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C332D"/>
                </a:solidFill>
                <a:latin typeface="Aptos"/>
                <a:ea typeface="Aptos"/>
                <a:cs typeface="Aptos"/>
              </a:rPr>
              <a:t>The cost is not just time. It is also audit risk, duplicate handling risk, and weak visibility into who has paid, who needs follow-up, and where exceptions are getting stuck.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9A353-9E23-48F5-A719-084826A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Business pain today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1C990-B676-4B05-97B8-3CF958BB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High manual effort + high risk of operational drift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30D2B-65B8-4681-9B98-C6F19E8D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6777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55CA6-34C5-4272-B0BA-8904056A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3 ·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CB711-AC3B-402E-83CC-A4394FC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280EE-1D3F-4B8B-BB4F-D6E37F0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Setu Finance creates one operating path from client signup to confirmed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0F35D-2FFA-4469-ADE6-7D5A883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474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4741"/>
                </a:solidFill>
                <a:latin typeface="Aptos"/>
                <a:ea typeface="Aptos"/>
                <a:cs typeface="Aptos"/>
              </a:rPr>
              <a:t>The product keeps the finance team in control while still automating the expensive and repetitive parts of the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7515-D4F4-4349-822C-20C9A2FC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E3B75-1814-4884-9CA4-BA13219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491D5-D738-4B8E-B1DB-D1E0E718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Structured client onboarding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60523-96C9-4988-83DD-4482242A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610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Required identity details, optional address, referral source, and dated service enrollments become the finance record from day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E84F0-D34B-446A-BC03-F440CDB8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EF816-5D9F-40D0-9519-CA768DE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495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5D0BC-5FB4-490D-B82E-4C0C5EF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Invoice flow tied to the customer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520D1-80FD-421A-91BD-8E78E6E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4610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Invoices reuse enrolled services and saved contacts instead of re-keying basic information every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6C3D5-62C0-4719-B979-67E956B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96C9E-FD8A-4B65-9476-8D288B9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15913-40FD-4290-80C6-5A7BC559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Zelle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88966-90F3-4BCE-8712-A42E8516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610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Inbox sync saves amount, date, memo, transaction number, payer hints, and raw extract into one transaction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875EF-5282-4006-88D9-C2B7709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290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0143C-07F4-416B-8416-16AEB7F8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29050"/>
            <a:ext cx="495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57C68-B67B-419A-BEDD-A2AC837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Human-controlled payment apply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F19E1-B74A-4457-A2ED-FF50A06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4610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The matching engine prepares the transaction, but finance still decides when to post it into the ledger.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979F3-F25B-46A1-B05D-CD1C05E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A8290-7CDF-4100-9862-98FCBF1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Automate the preparation, not the financial judgment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EFCB0-4EFB-4307-85D0-19BCBC7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150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E0ED0-DF66-42A4-B75C-DF6E59D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4 · PROCESS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BD2F1-3D6B-436C-8A06-0B6199FA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D1C8-DEEE-49DE-A0F1-EE3CC343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Simple business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B6EE8-AF29-4765-B81D-D777295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5D051-61FB-4DD6-A7BC-97585034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BE028-BBB9-4CDF-93D8-02508D2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Onboard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2165-D1AF-4C8E-B39C-FC32E9D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Create the customer record with required contact details, services, referral source, and home address when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14488-B586-44CB-871E-1961B7B4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70323-B12E-49CF-9B1E-05B51EB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002EA-D1C2-441B-8B42-CC4A89D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C7228-BE62-449B-83CE-DE8E8638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C5C14-DAF9-43B7-9C3E-CE5FDD6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Create invoice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BA1B2-8A6F-47BB-89DA-AA37672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Build the invoice from enrolled services and saved customer data, then send it by email.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BE390-D878-4A56-8937-D585EC31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42263-C0D5-402F-A5BE-BB68F36A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98E9E-BA2C-44EA-AF8E-2F6ABAC0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6B809-B822-46B8-ADE4-9E634770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F934B-436A-4C0F-B0C7-CA07D6E1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Sync or save transaction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063EE-E9BD-4720-BC69-E1BBA5D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Bring Zelle confirmation details into the portal as a structured transaction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E95C7-4756-448C-9D7E-95F211F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82842-4C9D-4A06-A52F-22253084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49F68-5B44-4567-9E62-F37035FA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65002-A95A-4B35-9EBB-645ACBE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C7EE6-91CF-4EF5-976D-86ADFBFE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Match and queue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C6FF59-B839-4F51-B836-34A094D5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Clear matches go to payments to confirm. Mismatches, duplicates, and ambiguity go to exceptions.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21048-FB5E-4F13-9F23-66881AF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C2B4A-D71F-4333-A1DE-BFEF15C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63519-C325-42F1-B354-703FB1FD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435F5-3B48-44EE-B2A3-FF5B7D25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C79ED9-9878-4F7D-AA10-282AF3DD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Apply transaction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BB2DE-A389-4F9C-86D8-E6A20AC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 finance user completes the final ledger action with one click after reviewing the prepared record.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45E91-DBF5-4097-BA0E-BE67309A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7A408-C1F9-4A0F-B978-335D2D3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2C9CA7-99B5-4F2F-A83F-4BB2B804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D7F2B-73EC-47C7-AD69-EF6477D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2ECB63-9202-4921-BADD-FCD23082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Completed transactions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32C16-B939-4283-811D-99C0ECB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The transaction remains visible after apply so finance can send or re-send the receipt later.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5A3631-1A56-461D-9EAE-51AD4817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8746B-ABDC-4397-83E1-AADA24F0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7EB69-D0BC-4994-8E15-A372F61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BD7DED-D6A1-479D-BF2C-C266F70C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08CB6E-0629-4E8B-BFE2-57CAC00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Send PDF receipt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1308F-30C5-4C84-8D58-745E05EF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Receipt goes to the customer's primary email with amount, transaction number, memo, dates, and invoice reference when available.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B8C946-32E8-4B7C-827A-C59A615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03CB2C-5FFD-4344-9CC6-A0B7C9A4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D47D92-784F-4F42-B460-70409535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68B00E-50B3-459F-A4FD-A23903AD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2362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2E2057-1101-4092-A7A6-1BD9A5CE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Update visibility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1AB668-8D8C-4425-92C6-E970EC4B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Dashboard totals, activity history, invoice status, and referral progress update from the applied record.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071A9A-1659-4EFF-AC83-8CF4617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62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8A8E50-9955-46F1-8CDB-0467F4E3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7100A4-41AA-48B0-B4DC-23E9A1FA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Simple explanation for business teams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055CF6-0001-46D8-B0B2-32682BE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Capture → review → apply → communicate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2A1289-95B7-4EBB-9131-2632103F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5710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7253D-C6B5-452B-B987-B59A4DD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5 · FEATURE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C88AC-4E43-43A6-A77A-8099363B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C64A-A092-44E4-B8B3-242C19D0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The product already spans more than billing.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C4645-38C7-4378-82C7-E8E875CC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D0C67-B85F-4A77-A3AD-F6C4B18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ONBOARDING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7720D-75D0-40AA-99A8-C378F4FB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Customer creation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9AC05-CF77-4256-BDB9-2944C0D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Mandatory first name, last name, email, phone, and services. Optional address, payment preferences, referral source, and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4CB66-7655-46CB-9708-237ED34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62A58-4CA7-4588-9DBC-B6D0F2A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CUSTOMER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2338-67EF-4F5F-BAF0-65F5B2BB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Excel-like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7F82D-8598-4E87-8536-4E94B079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Search by customer ID, name, email, or phone with clear account status and a 360 customer drill-down.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76234-19CE-43BC-8750-07E1FEFA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54B72-7E1D-46BE-941A-19D0F7D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INVOICING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13D23-FD1F-4CE5-A54E-AB53D62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Service-aware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A37DD-4C31-4AD6-A03B-45B4F71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Numeric invoice IDs, service defaults, draft or send flow, and email delivery from the configured mailbox.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1C2A5-6A7E-4B5E-B7D0-46ED81D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ECB89-3DE8-453E-9431-0CC1024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C4752-A4E8-44E3-B091-307E157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Inbox-backed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7B48F-2FA8-4143-801F-E4C2824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Syncs emails with subject line 'You received money with Zelle' and stores the full structured transaction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051AF-C45E-45CB-9A59-0C45A04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947A1-DED3-492E-9BBD-9C4B2E4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6240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6A7E0-0D58-48D0-AA1B-7DDF65E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Exceptions and duplicates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5C715-CA56-43C6-A34D-9E8B9D2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Duplicate protection, exception reassignment, raw extract review, and manual customer matching keep the ledger safe.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7B646-CE2D-4E89-9539-4E4DED1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051B9-CA5E-4959-ABF9-6F90CAF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D2533-0E7A-4333-B3BD-3E84680F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PDF receipts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390ED-956E-4455-8AAC-0A51387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Apply the transaction first, then send or re-send the PDF receipt separately from completed transactions.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43882F-6EBE-486C-8160-217E3C9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Feature philosophy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2FE81-BA52-4538-A742-3F255C21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Build the finance operating system, not a point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AE909-A3B3-4748-AB5C-25FFD52F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7519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25E1D-3BB9-4897-ABBE-BB2D8FFA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6 ·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30BCC-1105-483F-A58E-6B021FA0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C8730-51DA-47BE-A7FE-BE013C40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Checks and balances are built into the operating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6203B-F0E6-46B6-B942-284DA9E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5C3CA-4720-4A44-8985-40D9717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70AC7-3C79-4591-8306-BCDF3C5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6D91A-1686-4EE1-80DF-CA47631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Saved before applied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A4ABB-5919-42BE-810C-D661D30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Every synced transaction is captured as a durable record before finance posts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05710-516B-4C1D-A4FA-8D2FE69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B9524-67D9-4FF5-85AE-144FC22F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C9CB3-F5FF-4572-83FF-7BA8C50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7FD12-194F-4D31-9AA8-CFFAE937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813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Duplicates do not recount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591C1-672C-4DBE-8D53-1C77687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Message ID, transaction reference, and invoice-level checks keep the same payment from being counted twice.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E2472-F5E7-4920-8E3C-20120D1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F3C8B-CF3A-4E24-8CD9-3607BD5F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A0824-C023-435B-88B0-E7DE919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194C7-0C74-4051-AD9D-A20D6F0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Exceptions remain actionable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47418-2A49-442E-A9FE-A41F5D9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Finance can manually match a transaction to an existing customer and move it forward safely.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D7E54-28A7-434E-B939-5A108336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1695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C977-4705-40EC-83C7-C9C6AA7A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Audit 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42390-7D6C-4110-85AF-F5CD6DD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Activity history shows when a payment was captured, applied, and when the receipt was sent.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891C3-F3E4-47EF-9324-015C6F37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1695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E639C-479D-459B-AC84-04394EE8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Separated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36BD8-B1A2-46A7-A830-DFA3781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Receipt send is a distinct button, which prevents accidental re-posting of money.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6B003-E8E8-4D28-97D7-DD5F4EB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71700"/>
            <a:ext cx="16954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70242-76B4-4AFB-BF81-0504FC4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622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Historical integrity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A4E62-3F10-4EF3-BB0F-27CC554F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622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Service enrollments and referral rules are append-only or snapshot-based for reliable backtracking.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20D8D-0D3E-4D06-A125-B27BE1D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5435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D2BE22-0AD4-44ED-8417-3B7F30AD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E53CA-1C23-4724-B5D7-1E24668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516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3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C332D"/>
                </a:solidFill>
                <a:latin typeface="Aptos"/>
                <a:ea typeface="Aptos"/>
                <a:cs typeface="Aptos"/>
              </a:rPr>
              <a:t>Operational speed matters, but the real product advantage is that every posted payment remains reviewable, explainable, and safe to revisit later.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47BBE-EDA8-4C0B-8E6B-8E55BE3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Control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0B9BE-14BF-4CB4-B8B7-5C2DEEA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Operational speed with explainable financial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1A5C4-B106-4775-99E8-2A39195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3080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C49A1-19D8-4A99-97F4-3875215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7 · 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361B-5756-42A2-A473-A5E4BE6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BE98-2CC2-406B-9C39-4C07DBD8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What is already live in the current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66D0A-64C9-4ECF-8E39-3DF24288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1EC36-23FF-4667-941C-D6AB6FB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9C827-1296-445D-9652-74041AE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Authenticated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CE9A1-49F9-4FF3-B1EF-F923B21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Username/password gate protects access before finance data loads.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210E5-D2C9-4CEB-8D2E-1F6D2ED4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6E2E-92E5-4B0E-8724-2E44490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88D7F-4B28-4A5C-A042-DA9F7C0A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Postgres system of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DACBB-E92E-4B3E-9C8A-4CA7C88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Customers, invoices, payments, exceptions, referral logic, and activity history persist in a normalized database.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3FA6B-B75D-4C31-A94C-4ADACEED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C4779-E990-45C4-990A-DCD2680F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35591-D629-4118-B6A6-958EC26F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Gmail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4460-5F3C-4A53-AE18-1DE939D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The portal already reads the authorized mailbox and filters on the Zelle confirmation subject 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726DE-3D6E-4CA1-8048-1E54463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70B46-13A9-4BED-A4B7-B8B3944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AAAB4-08FE-4B71-B5EC-F24F17C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Completed transaction ledger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3B26B-5DCA-4A24-B572-A1D3B20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Applied payments remain visible with separate receipt-send status and timestamps.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D8105-1C41-4D44-9790-D6C042BA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353C1-E842-4436-A951-FAB1A6C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98BAA-E75F-46B6-AD4C-F3EDA5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Customer 360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95687-C473-46DD-A003-22C8760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Operators can open one record and see signup date, contacts, services, invoice ledger, transaction history, referrals, and contract notes.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8A5A3-D2B7-4228-B6B3-520DC8FF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3200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9EBAC-9715-4154-A904-A79A09A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3200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A2A32-62E9-4866-A55F-FA01D5E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Dashboard trends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38ED3-00EE-4ABE-9A4B-7220BB23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Received amounts can be summarized by day, week, month, or year from saved applied transactions.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6A0E42-7709-4A4F-8831-ACF9293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A9217-7534-4EE7-A3C7-A80CBF8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Working prototype with real sync, real DB, and real outbound receipt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F8DE9-7DA9-4DA5-9F95-DA24B17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5078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D35D5-3CF4-4A86-9C39-09AE4AC4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8 · 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DF295-E642-4161-9EC1-FEEFA16C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F4689-F33C-4F88-BACF-71CACA7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Business value comes from compression of workflow, visibility, and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1BD46-AF2A-43EE-BEC5-ECC866E2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31F7-D718-4F92-B2AD-48254359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Lower effort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50FB8-A010-4E89-95EE-7B80BB02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One portal replaces handoffs between spreadsheets, inbox searches, and scattered notes.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E4CF-95FC-4502-8F89-61DE507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80577-64CB-41C7-A3FE-0646027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Lower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0D320-09B0-4648-9E81-7DFEA70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Human review, duplicate protection, and explainable transaction records reduce posting errors.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5872B-7300-448D-8D66-B45BD7F7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BF0A-9D59-4AAD-AEE6-BA8C6150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Better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A9691-D1D0-4026-8800-DC928C6E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Customers get faster confirmation through a structured invoice and receipt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F5179-800C-48B0-8E57-67E3736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B76EC-DA71-47D3-9222-5C343BFC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C188D-A40C-4BB3-AB65-5B4457EA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3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C332D"/>
                </a:solidFill>
                <a:latin typeface="Aptos"/>
                <a:ea typeface="Aptos"/>
                <a:cs typeface="Aptos"/>
              </a:rPr>
              <a:t>The strongest business case is not just faster invoicing. It is a controlled finance operations system that can scale with more customers, more products, and more payment volume without increasing chaos.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E0B12-E539-4055-B252-A539A8D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Value lens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7DB25-8788-428E-8F95-87EB8870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Efficiency + trust + scalability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D644D-6ACA-4092-98F1-299CF08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8155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A740A-B160-47CD-8C17-E0893994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9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80918-924D-4000-9DFB-8046167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8362E-AFF0-4FCA-9B15-AECBE5AE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Low-cost AWS path without losing product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0A39-9358-4025-AD91-0F90EA2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207D6-CBDE-40CD-A10A-B5F96459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488E4-F2D1-4699-B4D1-A240563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E6096-DA63-407D-8F33-A524B79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0502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Host the portal on Amazon S3 with CloudFront for low fixed cost and simple HTTPS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0D3BF-194D-40CA-BB18-FD1B7D6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A2A44-7E0F-463E-A10D-0ECA7AA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EF319-A0B5-4F86-97D0-582AE8B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API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16F99-EB16-4F9D-8F42-7F6DCA16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717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Move the current Node/Express backend to AWS App Runner for a low-ops managed runtime.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D6EA9-C8CF-448D-BC1E-30C0A157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09F32-B994-4CC8-9A0D-C7FA705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A4B3-CE57-416C-970C-F4940C3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System of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4CE8C-CCED-4C4E-A14A-9D08052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3852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 Amazon RDS for PostgreSQL as the managed operational database.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5BF37-89E6-4BC6-9172-3443E38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85F99-6BB0-4A7B-AE7D-BCB583E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03CC0-0CD9-494B-8C53-5A6CA01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Jobs and sync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6BFEB-498A-4187-8C56-A1CCD31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052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 EventBridge, SQS, and Lambda for scheduled inbox sync, retryable processing, and async email jobs.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274A5-A9A1-4197-9E41-B5ACF3C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91FE7-69AC-4AE8-92A8-467516F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6F525-C75D-428E-B295-191EA29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Email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DA841-6FA8-4C88-B9EB-8CD2DF8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7202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 Amazon SES for lower-cost invoice and receipt sending once the product moves off Gmail SMTP.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E72EC-DF57-47CA-8D35-393221E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2F53E-58C8-4CBD-A4A2-A492663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90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0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13947-C47A-486D-A03E-DE2C527E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Security and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C1DA8-07A1-43FB-A008-DBB6F79E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387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Keep secrets in Parameter Store or Secrets Manager and use CloudWatch for logs and alarms.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1E21F-70F7-4578-9993-023B6D59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Deployment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6ECFA-32EB-4B75-9A07-E84F9917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Managed, usage-aware, and ready for broader suite growth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E3821-3ADA-418D-AED6-7D406C4F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4925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4AA68-7CEA-41EA-B0BD-FACF438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F655B"/>
                </a:solidFill>
                <a:latin typeface="Aptos Display"/>
                <a:ea typeface="Aptos Display"/>
                <a:cs typeface="Aptos Display"/>
              </a:rPr>
              <a:t>SLIDE 10 ·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28FF8-4263-4D86-9520-5CE73C9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0C27D-009F-46F1-A81C-435B056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Use Setu Finance as the finance operations foundation for the next 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68A1-21C3-46EB-A2A5-E49B6B8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474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4741"/>
                </a:solidFill>
                <a:latin typeface="Aptos"/>
                <a:ea typeface="Aptos"/>
                <a:cs typeface="Aptos"/>
              </a:rPr>
              <a:t>It already demonstrates the critical workflow: onboard the customer, create and send the invoice, capture and review the payment, apply it safely, and send the receipt from one system of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B6AA6-F2E2-4A50-8C7B-81DEE16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6762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293AF-805C-4382-B61E-C943CFA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385B9-AE54-40B4-9CFC-74DD38A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C1ABC-FA8A-49CB-9175-A6DF100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596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Approve the operating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9708D-C195-4F6C-AF9C-4238EEB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596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 the current portal as the blueprint for finance workflow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5B0EF-34F5-4AF8-963B-E2E6BC0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762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4DC92-6FC6-4DA2-837A-3980E68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77326-2907-46ED-B3F5-62D39757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E6553-D19A-4AFB-9042-A3E4544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596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Prioritize production 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89600-9267-4631-B491-880733D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96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Focus next on deployment, admin tooling, and broader payment-source integrations.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C802C-2903-4B97-9750-6339991F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762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29667-60D2-48C1-9605-2FC3E90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AA6E2-7BED-4461-9EBF-69BE19B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2DBEC-ABE9-4FD6-9043-EBF8FC1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96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1A17"/>
                </a:solidFill>
                <a:latin typeface="Aptos Display"/>
                <a:ea typeface="Aptos Display"/>
                <a:cs typeface="Aptos Display"/>
              </a:rPr>
              <a:t>Expand from portal to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D1165-A394-4157-A911-1F58DAC2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6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Use the customer, invoice, and transaction foundation to support adjacent products later.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B0B4F-B1B1-449F-851A-3CDBDA4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5433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3A781-A8D6-403F-8912-7F7F8BF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57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6C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3F4DA-7D27-4092-8392-51C491C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1623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3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C332D"/>
                </a:solidFill>
                <a:latin typeface="Aptos"/>
                <a:ea typeface="Aptos"/>
                <a:cs typeface="Aptos"/>
              </a:rPr>
              <a:t>Setu Finance is already more than a mockup. It is a working finance operations product with the right controls to become the backbone for a larger product suite.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74CCB-684A-423C-A0DA-D804A69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Decision 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9F662-FDC9-4A2F-9577-B745917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5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655B"/>
                </a:solidFill>
                <a:latin typeface="Aptos"/>
                <a:ea typeface="Aptos"/>
                <a:cs typeface="Aptos"/>
              </a:rPr>
              <a:t>Adopt the workflow now, industrialize the stack 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F3908-9E04-4123-A1D8-D95B0A0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BC6C2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3310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2026-05-29T21:15:29.4660000Z</dcterms:created>
  <dcterms:modified xsi:type="dcterms:W3CDTF">2026-05-29T21:15:29.4660000Z</dcterms:modified>
</coreProperties>
</file>